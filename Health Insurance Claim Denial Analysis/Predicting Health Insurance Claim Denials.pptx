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17" r:id="rId5"/>
    <p:sldId id="307" r:id="rId6"/>
    <p:sldId id="308" r:id="rId7"/>
    <p:sldId id="309" r:id="rId8"/>
    <p:sldId id="263" r:id="rId9"/>
    <p:sldId id="278" r:id="rId10"/>
    <p:sldId id="310" r:id="rId11"/>
    <p:sldId id="311" r:id="rId12"/>
    <p:sldId id="312" r:id="rId13"/>
    <p:sldId id="316" r:id="rId14"/>
    <p:sldId id="315" r:id="rId15"/>
    <p:sldId id="314" r:id="rId16"/>
    <p:sldId id="30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405" autoAdjust="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hianna Ruggiero" userId="9eacac166612a557" providerId="LiveId" clId="{270D1AE2-80FE-4EC7-899C-277D0C2388A3}"/>
    <pc:docChg chg="custSel modSld">
      <pc:chgData name="Rhianna Ruggiero" userId="9eacac166612a557" providerId="LiveId" clId="{270D1AE2-80FE-4EC7-899C-277D0C2388A3}" dt="2026-04-10T17:27:03.700" v="12" actId="478"/>
      <pc:docMkLst>
        <pc:docMk/>
      </pc:docMkLst>
      <pc:sldChg chg="delSp mod delAnim">
        <pc:chgData name="Rhianna Ruggiero" userId="9eacac166612a557" providerId="LiveId" clId="{270D1AE2-80FE-4EC7-899C-277D0C2388A3}" dt="2026-04-10T17:26:43.601" v="4" actId="478"/>
        <pc:sldMkLst>
          <pc:docMk/>
          <pc:sldMk cId="1096717490" sldId="263"/>
        </pc:sldMkLst>
        <pc:picChg chg="del">
          <ac:chgData name="Rhianna Ruggiero" userId="9eacac166612a557" providerId="LiveId" clId="{270D1AE2-80FE-4EC7-899C-277D0C2388A3}" dt="2026-04-10T17:26:43.601" v="4" actId="478"/>
          <ac:picMkLst>
            <pc:docMk/>
            <pc:sldMk cId="1096717490" sldId="263"/>
            <ac:picMk id="4" creationId="{30B833E9-7E94-F64A-2617-3A128662CF4A}"/>
          </ac:picMkLst>
        </pc:picChg>
      </pc:sldChg>
      <pc:sldChg chg="delSp mod delAnim">
        <pc:chgData name="Rhianna Ruggiero" userId="9eacac166612a557" providerId="LiveId" clId="{270D1AE2-80FE-4EC7-899C-277D0C2388A3}" dt="2026-04-10T17:26:46.169" v="5" actId="478"/>
        <pc:sldMkLst>
          <pc:docMk/>
          <pc:sldMk cId="520000563" sldId="278"/>
        </pc:sldMkLst>
        <pc:picChg chg="del">
          <ac:chgData name="Rhianna Ruggiero" userId="9eacac166612a557" providerId="LiveId" clId="{270D1AE2-80FE-4EC7-899C-277D0C2388A3}" dt="2026-04-10T17:26:46.169" v="5" actId="478"/>
          <ac:picMkLst>
            <pc:docMk/>
            <pc:sldMk cId="520000563" sldId="278"/>
            <ac:picMk id="4" creationId="{B92A5487-55B9-3C87-8F88-59BACE6DDC57}"/>
          </ac:picMkLst>
        </pc:picChg>
      </pc:sldChg>
      <pc:sldChg chg="delSp mod delAnim">
        <pc:chgData name="Rhianna Ruggiero" userId="9eacac166612a557" providerId="LiveId" clId="{270D1AE2-80FE-4EC7-899C-277D0C2388A3}" dt="2026-04-10T17:27:03.700" v="12" actId="478"/>
        <pc:sldMkLst>
          <pc:docMk/>
          <pc:sldMk cId="2188828507" sldId="304"/>
        </pc:sldMkLst>
        <pc:picChg chg="del">
          <ac:chgData name="Rhianna Ruggiero" userId="9eacac166612a557" providerId="LiveId" clId="{270D1AE2-80FE-4EC7-899C-277D0C2388A3}" dt="2026-04-10T17:27:03.700" v="12" actId="478"/>
          <ac:picMkLst>
            <pc:docMk/>
            <pc:sldMk cId="2188828507" sldId="304"/>
            <ac:picMk id="3" creationId="{132C8E2D-FF31-4D57-9A32-400B9C36C06E}"/>
          </ac:picMkLst>
        </pc:picChg>
      </pc:sldChg>
      <pc:sldChg chg="delSp mod delAnim">
        <pc:chgData name="Rhianna Ruggiero" userId="9eacac166612a557" providerId="LiveId" clId="{270D1AE2-80FE-4EC7-899C-277D0C2388A3}" dt="2026-04-10T17:26:37.137" v="1" actId="478"/>
        <pc:sldMkLst>
          <pc:docMk/>
          <pc:sldMk cId="586478555" sldId="307"/>
        </pc:sldMkLst>
        <pc:picChg chg="del">
          <ac:chgData name="Rhianna Ruggiero" userId="9eacac166612a557" providerId="LiveId" clId="{270D1AE2-80FE-4EC7-899C-277D0C2388A3}" dt="2026-04-10T17:26:37.137" v="1" actId="478"/>
          <ac:picMkLst>
            <pc:docMk/>
            <pc:sldMk cId="586478555" sldId="307"/>
            <ac:picMk id="22" creationId="{5C2976A5-C825-C60C-D4C4-F9B644E237CB}"/>
          </ac:picMkLst>
        </pc:picChg>
      </pc:sldChg>
      <pc:sldChg chg="delSp mod delAnim">
        <pc:chgData name="Rhianna Ruggiero" userId="9eacac166612a557" providerId="LiveId" clId="{270D1AE2-80FE-4EC7-899C-277D0C2388A3}" dt="2026-04-10T17:26:39.226" v="2" actId="478"/>
        <pc:sldMkLst>
          <pc:docMk/>
          <pc:sldMk cId="2222324472" sldId="308"/>
        </pc:sldMkLst>
        <pc:picChg chg="del">
          <ac:chgData name="Rhianna Ruggiero" userId="9eacac166612a557" providerId="LiveId" clId="{270D1AE2-80FE-4EC7-899C-277D0C2388A3}" dt="2026-04-10T17:26:39.226" v="2" actId="478"/>
          <ac:picMkLst>
            <pc:docMk/>
            <pc:sldMk cId="2222324472" sldId="308"/>
            <ac:picMk id="4" creationId="{DD3E7E8D-E346-D438-D9DB-9429EFE1FADB}"/>
          </ac:picMkLst>
        </pc:picChg>
      </pc:sldChg>
      <pc:sldChg chg="delSp mod delAnim">
        <pc:chgData name="Rhianna Ruggiero" userId="9eacac166612a557" providerId="LiveId" clId="{270D1AE2-80FE-4EC7-899C-277D0C2388A3}" dt="2026-04-10T17:26:41.341" v="3" actId="478"/>
        <pc:sldMkLst>
          <pc:docMk/>
          <pc:sldMk cId="1966913227" sldId="309"/>
        </pc:sldMkLst>
        <pc:picChg chg="del">
          <ac:chgData name="Rhianna Ruggiero" userId="9eacac166612a557" providerId="LiveId" clId="{270D1AE2-80FE-4EC7-899C-277D0C2388A3}" dt="2026-04-10T17:26:41.341" v="3" actId="478"/>
          <ac:picMkLst>
            <pc:docMk/>
            <pc:sldMk cId="1966913227" sldId="309"/>
            <ac:picMk id="5" creationId="{3C3EB627-8441-725F-1D89-021B5D65C169}"/>
          </ac:picMkLst>
        </pc:picChg>
      </pc:sldChg>
      <pc:sldChg chg="delSp mod delAnim">
        <pc:chgData name="Rhianna Ruggiero" userId="9eacac166612a557" providerId="LiveId" clId="{270D1AE2-80FE-4EC7-899C-277D0C2388A3}" dt="2026-04-10T17:26:49.194" v="6" actId="478"/>
        <pc:sldMkLst>
          <pc:docMk/>
          <pc:sldMk cId="4230106960" sldId="310"/>
        </pc:sldMkLst>
        <pc:picChg chg="del">
          <ac:chgData name="Rhianna Ruggiero" userId="9eacac166612a557" providerId="LiveId" clId="{270D1AE2-80FE-4EC7-899C-277D0C2388A3}" dt="2026-04-10T17:26:49.194" v="6" actId="478"/>
          <ac:picMkLst>
            <pc:docMk/>
            <pc:sldMk cId="4230106960" sldId="310"/>
            <ac:picMk id="5" creationId="{5577F542-0158-2FAB-2C7C-9C9A238B4F10}"/>
          </ac:picMkLst>
        </pc:picChg>
      </pc:sldChg>
      <pc:sldChg chg="delSp mod delAnim">
        <pc:chgData name="Rhianna Ruggiero" userId="9eacac166612a557" providerId="LiveId" clId="{270D1AE2-80FE-4EC7-899C-277D0C2388A3}" dt="2026-04-10T17:26:52.271" v="7" actId="478"/>
        <pc:sldMkLst>
          <pc:docMk/>
          <pc:sldMk cId="3748348926" sldId="311"/>
        </pc:sldMkLst>
        <pc:picChg chg="del">
          <ac:chgData name="Rhianna Ruggiero" userId="9eacac166612a557" providerId="LiveId" clId="{270D1AE2-80FE-4EC7-899C-277D0C2388A3}" dt="2026-04-10T17:26:52.271" v="7" actId="478"/>
          <ac:picMkLst>
            <pc:docMk/>
            <pc:sldMk cId="3748348926" sldId="311"/>
            <ac:picMk id="6" creationId="{1E3736BB-A34D-90D9-40FB-2E9AC9CA9681}"/>
          </ac:picMkLst>
        </pc:picChg>
      </pc:sldChg>
      <pc:sldChg chg="delSp mod delAnim">
        <pc:chgData name="Rhianna Ruggiero" userId="9eacac166612a557" providerId="LiveId" clId="{270D1AE2-80FE-4EC7-899C-277D0C2388A3}" dt="2026-04-10T17:26:55.274" v="8" actId="478"/>
        <pc:sldMkLst>
          <pc:docMk/>
          <pc:sldMk cId="859909800" sldId="312"/>
        </pc:sldMkLst>
        <pc:picChg chg="del">
          <ac:chgData name="Rhianna Ruggiero" userId="9eacac166612a557" providerId="LiveId" clId="{270D1AE2-80FE-4EC7-899C-277D0C2388A3}" dt="2026-04-10T17:26:55.274" v="8" actId="478"/>
          <ac:picMkLst>
            <pc:docMk/>
            <pc:sldMk cId="859909800" sldId="312"/>
            <ac:picMk id="3" creationId="{4F47F709-1493-C1DE-85DD-60F27586E9F9}"/>
          </ac:picMkLst>
        </pc:picChg>
      </pc:sldChg>
      <pc:sldChg chg="delSp mod delAnim">
        <pc:chgData name="Rhianna Ruggiero" userId="9eacac166612a557" providerId="LiveId" clId="{270D1AE2-80FE-4EC7-899C-277D0C2388A3}" dt="2026-04-10T17:27:02.102" v="11" actId="478"/>
        <pc:sldMkLst>
          <pc:docMk/>
          <pc:sldMk cId="4132147533" sldId="314"/>
        </pc:sldMkLst>
        <pc:picChg chg="del">
          <ac:chgData name="Rhianna Ruggiero" userId="9eacac166612a557" providerId="LiveId" clId="{270D1AE2-80FE-4EC7-899C-277D0C2388A3}" dt="2026-04-10T17:27:02.102" v="11" actId="478"/>
          <ac:picMkLst>
            <pc:docMk/>
            <pc:sldMk cId="4132147533" sldId="314"/>
            <ac:picMk id="5" creationId="{CCADABB4-348C-7BAC-27D1-7FCFAF442CA4}"/>
          </ac:picMkLst>
        </pc:picChg>
      </pc:sldChg>
      <pc:sldChg chg="delSp mod delAnim">
        <pc:chgData name="Rhianna Ruggiero" userId="9eacac166612a557" providerId="LiveId" clId="{270D1AE2-80FE-4EC7-899C-277D0C2388A3}" dt="2026-04-10T17:26:59.336" v="10" actId="478"/>
        <pc:sldMkLst>
          <pc:docMk/>
          <pc:sldMk cId="3064996118" sldId="315"/>
        </pc:sldMkLst>
        <pc:picChg chg="del">
          <ac:chgData name="Rhianna Ruggiero" userId="9eacac166612a557" providerId="LiveId" clId="{270D1AE2-80FE-4EC7-899C-277D0C2388A3}" dt="2026-04-10T17:26:59.336" v="10" actId="478"/>
          <ac:picMkLst>
            <pc:docMk/>
            <pc:sldMk cId="3064996118" sldId="315"/>
            <ac:picMk id="5" creationId="{45FF6C48-16EE-8EA6-C005-8A1C49747C49}"/>
          </ac:picMkLst>
        </pc:picChg>
      </pc:sldChg>
      <pc:sldChg chg="delSp mod delAnim">
        <pc:chgData name="Rhianna Ruggiero" userId="9eacac166612a557" providerId="LiveId" clId="{270D1AE2-80FE-4EC7-899C-277D0C2388A3}" dt="2026-04-10T17:26:57.104" v="9" actId="478"/>
        <pc:sldMkLst>
          <pc:docMk/>
          <pc:sldMk cId="537809529" sldId="316"/>
        </pc:sldMkLst>
        <pc:picChg chg="del">
          <ac:chgData name="Rhianna Ruggiero" userId="9eacac166612a557" providerId="LiveId" clId="{270D1AE2-80FE-4EC7-899C-277D0C2388A3}" dt="2026-04-10T17:26:57.104" v="9" actId="478"/>
          <ac:picMkLst>
            <pc:docMk/>
            <pc:sldMk cId="537809529" sldId="316"/>
            <ac:picMk id="3" creationId="{4F745E3C-648B-11B7-5835-D4EC595D6FB3}"/>
          </ac:picMkLst>
        </pc:picChg>
      </pc:sldChg>
      <pc:sldChg chg="delSp mod delAnim">
        <pc:chgData name="Rhianna Ruggiero" userId="9eacac166612a557" providerId="LiveId" clId="{270D1AE2-80FE-4EC7-899C-277D0C2388A3}" dt="2026-04-10T17:26:34.975" v="0" actId="478"/>
        <pc:sldMkLst>
          <pc:docMk/>
          <pc:sldMk cId="1338167130" sldId="317"/>
        </pc:sldMkLst>
        <pc:picChg chg="del">
          <ac:chgData name="Rhianna Ruggiero" userId="9eacac166612a557" providerId="LiveId" clId="{270D1AE2-80FE-4EC7-899C-277D0C2388A3}" dt="2026-04-10T17:26:34.975" v="0" actId="478"/>
          <ac:picMkLst>
            <pc:docMk/>
            <pc:sldMk cId="1338167130" sldId="317"/>
            <ac:picMk id="19" creationId="{934225E8-8481-C7B1-520C-6D9C2D156F2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4/10/2026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27485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99865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dirty="0"/>
              <a:t>Predicting Health Insurance </a:t>
            </a:r>
            <a:br>
              <a:rPr lang="en-US" dirty="0"/>
            </a:br>
            <a:r>
              <a:rPr lang="en-US" dirty="0"/>
              <a:t>Claim Denials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3EF3D9-1941-B666-F007-EBC4D9CBCA7C}"/>
              </a:ext>
            </a:extLst>
          </p:cNvPr>
          <p:cNvSpPr txBox="1"/>
          <p:nvPr/>
        </p:nvSpPr>
        <p:spPr>
          <a:xfrm>
            <a:off x="4818888" y="4434840"/>
            <a:ext cx="2825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DSC 630</a:t>
            </a:r>
          </a:p>
          <a:p>
            <a:pPr algn="ctr"/>
            <a:r>
              <a:rPr lang="en-US" dirty="0"/>
              <a:t>Rhianna Ruggiero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33"/>
    </mc:Choice>
    <mc:Fallback xmlns="">
      <p:transition spd="slow" advTm="953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7" y="914400"/>
            <a:ext cx="5641848" cy="5029200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1634830"/>
              </p:ext>
            </p:extLst>
          </p:nvPr>
        </p:nvGraphicFramePr>
        <p:xfrm>
          <a:off x="6922008" y="565364"/>
          <a:ext cx="4946904" cy="5394528"/>
        </p:xfrm>
        <a:graphic>
          <a:graphicData uri="http://schemas.openxmlformats.org/drawingml/2006/table">
            <a:tbl>
              <a:tblPr firstRow="1" bandRow="1"/>
              <a:tblGrid>
                <a:gridCol w="4946904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70892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+mn-lt"/>
                          <a:cs typeface="Gill Sans Light" panose="020B0302020104020203" pitchFamily="34" charset="-79"/>
                        </a:rPr>
                        <a:t>INTRODUCTION</a:t>
                      </a:r>
                    </a:p>
                    <a:p>
                      <a:pPr algn="r"/>
                      <a:r>
                        <a:rPr lang="en-US" sz="2400" b="0" dirty="0">
                          <a:latin typeface="+mj-lt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843351">
                <a:tc>
                  <a:txBody>
                    <a:bodyPr/>
                    <a:lstStyle/>
                    <a:p>
                      <a:pPr algn="r"/>
                      <a:r>
                        <a:rPr lang="en-US" sz="2400" b="0" dirty="0"/>
                        <a:t>FINDING  &amp; VISUALIZING THE DATA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860561">
                <a:tc>
                  <a:txBody>
                    <a:bodyPr/>
                    <a:lstStyle/>
                    <a:p>
                      <a:pPr algn="r"/>
                      <a:r>
                        <a:rPr lang="en-US" sz="2400" b="0" dirty="0"/>
                        <a:t>PREPARING THE DATA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1024003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+mn-lt"/>
                          <a:cs typeface="Gill Sans Light" panose="020B0302020104020203" pitchFamily="34" charset="-79"/>
                        </a:rPr>
                        <a:t>CREATING &amp; EVALUATING THE MODELS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7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85597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+mn-lt"/>
                          <a:cs typeface="Gill Sans Light" panose="020B0302020104020203" pitchFamily="34" charset="-79"/>
                        </a:rPr>
                        <a:t>RESULTS &amp; FINDINGS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  <a:tr h="73638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+mn-lt"/>
                          <a:cs typeface="Gill Sans Light" panose="020B0302020104020203" pitchFamily="34" charset="-79"/>
                        </a:rPr>
                        <a:t>CONCLUSIONS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1073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547"/>
    </mc:Choice>
    <mc:Fallback xmlns="">
      <p:transition spd="slow" advTm="45547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556" y="548640"/>
            <a:ext cx="4361688" cy="1088136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960245-CF4E-C062-FFA3-02209501F191}"/>
              </a:ext>
            </a:extLst>
          </p:cNvPr>
          <p:cNvSpPr txBox="1"/>
          <p:nvPr/>
        </p:nvSpPr>
        <p:spPr>
          <a:xfrm>
            <a:off x="502920" y="1408176"/>
            <a:ext cx="8842248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Insurance claim denials cause issues for both hospitals/doctors offices and patients that can be costly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Patient’s medications can be delayed which can be dangerous and hospitals and private practices will not get reimbursed in a timely manner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Having a predictive model in place that can look at claims before they are submitted and flag ones that might be denied would help reduce denials and help both patients and practices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model should help users determine if a claim may be denied or not and show which claims might need to be looked at a second time before submitting and which ones can be submitted.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313"/>
    </mc:Choice>
    <mc:Fallback xmlns="">
      <p:transition spd="slow" advTm="5331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49438"/>
            <a:ext cx="7534656" cy="914400"/>
          </a:xfrm>
        </p:spPr>
        <p:txBody>
          <a:bodyPr/>
          <a:lstStyle/>
          <a:p>
            <a:r>
              <a:rPr lang="en-US" dirty="0"/>
              <a:t>Finding the Data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928656"/>
            <a:ext cx="7150608" cy="3356576"/>
          </a:xfrm>
        </p:spPr>
        <p:txBody>
          <a:bodyPr/>
          <a:lstStyle/>
          <a:p>
            <a:pPr marL="285750" indent="-285750"/>
            <a:r>
              <a:rPr lang="en-US" dirty="0"/>
              <a:t>The first data set that I used for this project came from Kaggle and contained randomly generated insurance claim information </a:t>
            </a:r>
          </a:p>
          <a:p>
            <a:pPr marL="285750" indent="-285750"/>
            <a:r>
              <a:rPr lang="en-US" dirty="0"/>
              <a:t>This data set only contained information on denied claims however which prevented me from creating a model that would be able to predict which ones would get denied and which ones would be accepted/paid</a:t>
            </a:r>
          </a:p>
          <a:p>
            <a:pPr marL="285750" indent="-285750"/>
            <a:r>
              <a:rPr lang="en-US" dirty="0"/>
              <a:t>I found a new data set on Kaggle that contained information on both paid and denied claims so that I could create a model to learn what the difference is between paid and denied claims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DF92ED-1A37-43EE-5DCF-94905FA06D3C}"/>
              </a:ext>
            </a:extLst>
          </p:cNvPr>
          <p:cNvSpPr txBox="1"/>
          <p:nvPr/>
        </p:nvSpPr>
        <p:spPr>
          <a:xfrm>
            <a:off x="4379976" y="5285232"/>
            <a:ext cx="43251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Link: https://www.kaggle.com/datasets/leandrenash/enhanced-health-insurance-claims-dataset</a:t>
            </a:r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300"/>
    </mc:Choice>
    <mc:Fallback xmlns="">
      <p:transition spd="slow" advTm="393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621792"/>
            <a:ext cx="10360152" cy="832104"/>
          </a:xfrm>
        </p:spPr>
        <p:txBody>
          <a:bodyPr anchor="b"/>
          <a:lstStyle/>
          <a:p>
            <a:r>
              <a:rPr lang="en-US" dirty="0"/>
              <a:t>Visualizations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73C4E2-BAEA-F3D5-0877-CF6D463E8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79628"/>
            <a:ext cx="5140332" cy="36442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F3ED6C-1096-54B0-5DCB-6D9989A763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608" y="1874518"/>
            <a:ext cx="4840224" cy="364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392"/>
    </mc:Choice>
    <mc:Fallback xmlns="">
      <p:transition spd="slow" advTm="53392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377AF6-2477-81EC-D1BC-43FD72DF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596" y="507492"/>
            <a:ext cx="6169723" cy="874428"/>
          </a:xfrm>
        </p:spPr>
        <p:txBody>
          <a:bodyPr anchor="b"/>
          <a:lstStyle/>
          <a:p>
            <a:r>
              <a:rPr lang="en-US" dirty="0"/>
              <a:t>Prepping the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9D8218-E6FC-DB30-FC86-26EE87D7396D}"/>
              </a:ext>
            </a:extLst>
          </p:cNvPr>
          <p:cNvSpPr txBox="1"/>
          <p:nvPr/>
        </p:nvSpPr>
        <p:spPr>
          <a:xfrm>
            <a:off x="962596" y="1665504"/>
            <a:ext cx="686714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Various updates were made to the data including removing any in progress insurance claims and any data with high cardinality including </a:t>
            </a:r>
            <a:r>
              <a:rPr lang="en-US" sz="2000" dirty="0" err="1"/>
              <a:t>ClaimID</a:t>
            </a:r>
            <a:r>
              <a:rPr lang="en-US" sz="2000" dirty="0"/>
              <a:t>, </a:t>
            </a:r>
            <a:r>
              <a:rPr lang="en-US" sz="2000" dirty="0" err="1"/>
              <a:t>PatientID</a:t>
            </a:r>
            <a:r>
              <a:rPr lang="en-US" sz="2000" dirty="0"/>
              <a:t> and </a:t>
            </a:r>
            <a:r>
              <a:rPr lang="en-US" sz="2000" dirty="0" err="1"/>
              <a:t>ProviderID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After doing some analysis on the data, I also discovered the diagnosis code,  procedure code and provider location columns contained mainly unique values and were removed as well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New features were added to the data set including a claim amount to income ratio that would show the relationship between these two columns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ages of the patients were also binned into different ranges so see if certain age ranges had more claim denials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Claim type and claim submission were combined to see if there was a relationship between the data in these columns as well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 also created dummy variables for the categorical columns </a:t>
            </a:r>
          </a:p>
        </p:txBody>
      </p:sp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602"/>
    </mc:Choice>
    <mc:Fallback xmlns="">
      <p:transition spd="slow" advTm="74602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46888"/>
            <a:ext cx="10360152" cy="914400"/>
          </a:xfrm>
        </p:spPr>
        <p:txBody>
          <a:bodyPr/>
          <a:lstStyle/>
          <a:p>
            <a:r>
              <a:rPr lang="en-US" sz="3200" dirty="0"/>
              <a:t>Choosing the Model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A3718F-D67C-255A-4B64-BA379609FC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40664" y="1627632"/>
            <a:ext cx="4576953" cy="3877055"/>
          </a:xfrm>
        </p:spPr>
        <p:txBody>
          <a:bodyPr/>
          <a:lstStyle/>
          <a:p>
            <a:r>
              <a:rPr lang="en-US" dirty="0"/>
              <a:t>Decision Tree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This model had an accuracy around 67% with a depth of 5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After adding new features to the data the accuracy decreased to 56.3%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Could have been overfit which led to the decrease in accuracy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A0FE9-C0B8-3E23-3F5C-B66F262E4B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096000" y="1627632"/>
            <a:ext cx="4576953" cy="3877055"/>
          </a:xfrm>
        </p:spPr>
        <p:txBody>
          <a:bodyPr/>
          <a:lstStyle/>
          <a:p>
            <a:r>
              <a:rPr lang="en-US" dirty="0"/>
              <a:t>Random Forest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Uses multiple decision trees and had a lower initial accuracy of 64.7%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After adding new features accuracy decreased to 63.3%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This ensemble model reduces overfitting that occurs in decision tree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Decided to continue with random forest to try and tune the model to catch as many denied claims as possible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80"/>
    </mc:Choice>
    <mc:Fallback xmlns="">
      <p:transition spd="slow" advTm="4008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49C0DA-C8AE-5ECC-149A-D60ECFF8C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457200"/>
            <a:ext cx="10360152" cy="914400"/>
          </a:xfrm>
        </p:spPr>
        <p:txBody>
          <a:bodyPr/>
          <a:lstStyle/>
          <a:p>
            <a:r>
              <a:rPr lang="en-US" sz="3200" dirty="0"/>
              <a:t>Model Updates &amp; Evaluation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A1F938-0042-392A-AB75-AC6F38D716EA}"/>
              </a:ext>
            </a:extLst>
          </p:cNvPr>
          <p:cNvSpPr txBox="1"/>
          <p:nvPr/>
        </p:nvSpPr>
        <p:spPr>
          <a:xfrm>
            <a:off x="932688" y="1658636"/>
            <a:ext cx="34655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Threshold decrease to 0.4 to increase denied recall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Grid Search to find the best parameters for the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Denied recall increased to 83% with confusion matrix on the right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Accuracy was only 63%, but we care more about denied recall in this situation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530378-C811-4D0D-281C-3618BBE61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612" y="1493897"/>
            <a:ext cx="5719068" cy="43859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9734AA-014E-4F2F-C222-11610AF67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20958"/>
            <a:ext cx="4390680" cy="169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274"/>
    </mc:Choice>
    <mc:Fallback xmlns="">
      <p:transition spd="slow" advTm="61274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044F7-BD97-2FDE-4E33-A565BCF0E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664" y="466344"/>
            <a:ext cx="7534656" cy="612648"/>
          </a:xfrm>
        </p:spPr>
        <p:txBody>
          <a:bodyPr/>
          <a:lstStyle/>
          <a:p>
            <a:r>
              <a:rPr lang="en-US" sz="3200" dirty="0"/>
              <a:t>Results &amp; Findings 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C3E128-3192-6FE4-FAFA-BC2C4A99A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424116"/>
            <a:ext cx="7426861" cy="43457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F2AAC3-BCD4-F64D-7091-12F2AC9434D3}"/>
              </a:ext>
            </a:extLst>
          </p:cNvPr>
          <p:cNvSpPr txBox="1"/>
          <p:nvPr/>
        </p:nvSpPr>
        <p:spPr>
          <a:xfrm>
            <a:off x="8503920" y="2027329"/>
            <a:ext cx="294741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Claim amount to income ratio was the most important predictor of claim approval/denial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Claim amount and patient income separately were also important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Paper claim submission method was semi-important but not as much as the other predictors</a:t>
            </a:r>
          </a:p>
        </p:txBody>
      </p:sp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444"/>
    </mc:Choice>
    <mc:Fallback xmlns="">
      <p:transition spd="slow" advTm="31444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96E3FD31-D19A-BFEB-821F-C00103830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649224"/>
            <a:ext cx="10360152" cy="914400"/>
          </a:xfrm>
        </p:spPr>
        <p:txBody>
          <a:bodyPr/>
          <a:lstStyle/>
          <a:p>
            <a:r>
              <a:rPr lang="en-US" sz="3200" dirty="0"/>
              <a:t>Conclusion &amp; Recommendation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76313-F1C8-57CB-82F6-54BC07D3B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694363-22E9-9ACE-2F43-8BD20FD27F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9424" y="1801580"/>
            <a:ext cx="9407888" cy="384048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Claim amount and patient income were the most influential features on predicting denials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There is room for improvement and could be accomplished with the addition of more features or with more data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500" dirty="0"/>
          </a:p>
          <a:p>
            <a:pPr marL="0" indent="0">
              <a:buNone/>
            </a:pPr>
            <a:r>
              <a:rPr lang="en-US" b="1" dirty="0"/>
              <a:t>Ethical Considerations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Results must not be used to discriminate against patients based on income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should be used as a guideline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HIPAA laws must be adhered 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should be updated over time and reviewed by experts</a:t>
            </a:r>
          </a:p>
        </p:txBody>
      </p:sp>
    </p:spTree>
    <p:extLst>
      <p:ext uri="{BB962C8B-B14F-4D97-AF65-F5344CB8AC3E}">
        <p14:creationId xmlns:p14="http://schemas.microsoft.com/office/powerpoint/2010/main" val="537809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249"/>
    </mc:Choice>
    <mc:Fallback xmlns="">
      <p:transition spd="slow" advTm="61249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E4F88F8-17E5-45E3-77B1-77FACD99F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/>
          <a:lstStyle/>
          <a:p>
            <a:r>
              <a:rPr lang="en-US" dirty="0"/>
              <a:t>What I learned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469ED-926E-7CEE-5AF2-BF9AC726D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9ED2FCB9-A637-3E44-0AF8-AE648A51023E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132142"/>
            <a:ext cx="10360025" cy="3374136"/>
          </a:xfrm>
        </p:spPr>
        <p:txBody>
          <a:bodyPr/>
          <a:lstStyle/>
          <a:p>
            <a:r>
              <a:rPr lang="en-US" dirty="0"/>
              <a:t>Finding and cleaning data</a:t>
            </a:r>
          </a:p>
          <a:p>
            <a:r>
              <a:rPr lang="en-US" dirty="0"/>
              <a:t>How to determine model “accuracy”</a:t>
            </a:r>
          </a:p>
          <a:p>
            <a:r>
              <a:rPr lang="en-US" dirty="0"/>
              <a:t>Tuning a model</a:t>
            </a:r>
          </a:p>
          <a:p>
            <a:r>
              <a:rPr lang="en-US" dirty="0"/>
              <a:t>Feature engineering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996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057"/>
    </mc:Choice>
    <mc:Fallback xmlns="">
      <p:transition spd="slow" advTm="34057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B33A77B-664F-FFD3-D61A-0D344C269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521208"/>
            <a:ext cx="10360152" cy="914400"/>
          </a:xfrm>
        </p:spPr>
        <p:txBody>
          <a:bodyPr/>
          <a:lstStyle/>
          <a:p>
            <a:r>
              <a:rPr lang="en-US" sz="3200" dirty="0"/>
              <a:t>References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9500A-4B75-29F9-CE37-C3E13D6A5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4F1ADA-F1A8-8870-592F-58028E84F065}"/>
              </a:ext>
            </a:extLst>
          </p:cNvPr>
          <p:cNvSpPr txBox="1"/>
          <p:nvPr/>
        </p:nvSpPr>
        <p:spPr>
          <a:xfrm>
            <a:off x="1042416" y="1673352"/>
            <a:ext cx="975664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Frank, E. L. (2018, October 18). Understanding the F1 score. Medium. 	https://ellielfrank.medium.com/understanding-the-f1-score-55371416fbe1 </a:t>
            </a:r>
          </a:p>
          <a:p>
            <a:r>
              <a:rPr lang="en-US" dirty="0" err="1"/>
              <a:t>hpaulj</a:t>
            </a:r>
            <a:r>
              <a:rPr lang="en-US" dirty="0"/>
              <a:t>. (2018, April 11). How to set threshold to scikit-learn random forest model [Answer]. Stack 	Overflow. https://stackoverflow.com/questions/49785904/how-to-setthreshold-to-scikit-	learn-random-forest-model </a:t>
            </a:r>
          </a:p>
          <a:p>
            <a:r>
              <a:rPr lang="en-US" dirty="0"/>
              <a:t>Patino, C. M., &amp; Ferreira, J. C. (2021). Recall bias. In </a:t>
            </a:r>
            <a:r>
              <a:rPr lang="en-US" dirty="0" err="1"/>
              <a:t>StatPearls</a:t>
            </a:r>
            <a:r>
              <a:rPr lang="en-US" dirty="0"/>
              <a:t> [Internet]. </a:t>
            </a:r>
            <a:r>
              <a:rPr lang="en-US" dirty="0" err="1"/>
              <a:t>StatPearls</a:t>
            </a:r>
            <a:r>
              <a:rPr lang="en-US" dirty="0"/>
              <a:t> Publishing. 	https://www.ncbi.nlm.nih.gov/books/NBK557812/ </a:t>
            </a:r>
          </a:p>
          <a:p>
            <a:r>
              <a:rPr lang="en-US" dirty="0"/>
              <a:t>Ranked, C. (2023, December 4). Common reasons for insurance claims denials. </a:t>
            </a:r>
            <a:r>
              <a:rPr lang="en-US" dirty="0" err="1"/>
              <a:t>EnableComp</a:t>
            </a:r>
            <a:r>
              <a:rPr lang="en-US" dirty="0"/>
              <a:t>. 	https://enablecomp.com/denial-prevention-and-	resolution/reasonsfordenial/#:~:text=Incorrect%20or%20duplicate%20claims%2C%20lack,also%2	0likel y%20to%20be%20denied. </a:t>
            </a:r>
          </a:p>
          <a:p>
            <a:r>
              <a:rPr lang="en-US" dirty="0" err="1"/>
              <a:t>Steinzor</a:t>
            </a:r>
            <a:r>
              <a:rPr lang="en-US" dirty="0"/>
              <a:t>, P., &amp; Grossi, G. (2025, February 27). How insurance claim denials harm patients’ health, finances. 	AJMC. https://www.ajmc.com/view/how-insurance-claim-denialsharm-patients-health-finances </a:t>
            </a:r>
          </a:p>
        </p:txBody>
      </p:sp>
    </p:spTree>
    <p:extLst>
      <p:ext uri="{BB962C8B-B14F-4D97-AF65-F5344CB8AC3E}">
        <p14:creationId xmlns:p14="http://schemas.microsoft.com/office/powerpoint/2010/main" val="4132147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50"/>
    </mc:Choice>
    <mc:Fallback xmlns="">
      <p:transition spd="slow" advTm="755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71"/>
    </mc:Choice>
    <mc:Fallback xmlns="">
      <p:transition spd="slow" advTm="7771"/>
    </mc:Fallback>
  </mc:AlternateContent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{AEB1DAC1-1286-49FB-9ABD-48CE877C681F}tf11964407_win32</Template>
  <TotalTime>738</TotalTime>
  <Words>900</Words>
  <Application>Microsoft Office PowerPoint</Application>
  <PresentationFormat>Widescreen</PresentationFormat>
  <Paragraphs>92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Courier New</vt:lpstr>
      <vt:lpstr>Gill Sans Nova Light</vt:lpstr>
      <vt:lpstr>Sagona Book</vt:lpstr>
      <vt:lpstr>Custom</vt:lpstr>
      <vt:lpstr>Predicting Health Insurance  Claim Denials</vt:lpstr>
      <vt:lpstr>agenda</vt:lpstr>
      <vt:lpstr>Introduction</vt:lpstr>
      <vt:lpstr>Finding the Data</vt:lpstr>
      <vt:lpstr>Visualizations</vt:lpstr>
      <vt:lpstr>Prepping the Data</vt:lpstr>
      <vt:lpstr>Choosing the Model</vt:lpstr>
      <vt:lpstr>Model Updates &amp; Evaluation</vt:lpstr>
      <vt:lpstr>Results &amp; Findings </vt:lpstr>
      <vt:lpstr>Conclusion &amp; Recommendation</vt:lpstr>
      <vt:lpstr>What I learned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Rhianna Ruggiero</dc:creator>
  <cp:lastModifiedBy>Rhianna Ruggiero</cp:lastModifiedBy>
  <cp:revision>4</cp:revision>
  <dcterms:created xsi:type="dcterms:W3CDTF">2025-11-03T15:11:26Z</dcterms:created>
  <dcterms:modified xsi:type="dcterms:W3CDTF">2026-04-10T17:27:06Z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